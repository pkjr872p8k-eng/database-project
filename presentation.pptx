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 MT Pro Bold" charset="1" panose="020B0802020202020204"/>
      <p:regular r:id="rId12"/>
    </p:embeddedFont>
    <p:embeddedFont>
      <p:font typeface="Arial MT Pro" charset="1" panose="020B0502020202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73721" y="6425645"/>
            <a:ext cx="3353748" cy="942555"/>
            <a:chOff x="0" y="0"/>
            <a:chExt cx="1899754" cy="533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9754" cy="533917"/>
            </a:xfrm>
            <a:custGeom>
              <a:avLst/>
              <a:gdLst/>
              <a:ahLst/>
              <a:cxnLst/>
              <a:rect r="r" b="b" t="t" l="l"/>
              <a:pathLst>
                <a:path h="533917" w="1899754">
                  <a:moveTo>
                    <a:pt x="1696554" y="0"/>
                  </a:moveTo>
                  <a:cubicBezTo>
                    <a:pt x="1808778" y="0"/>
                    <a:pt x="1899754" y="119521"/>
                    <a:pt x="1899754" y="266958"/>
                  </a:cubicBezTo>
                  <a:cubicBezTo>
                    <a:pt x="1899754" y="414395"/>
                    <a:pt x="1808778" y="533917"/>
                    <a:pt x="1696554" y="533917"/>
                  </a:cubicBezTo>
                  <a:lnTo>
                    <a:pt x="203200" y="533917"/>
                  </a:lnTo>
                  <a:cubicBezTo>
                    <a:pt x="90976" y="533917"/>
                    <a:pt x="0" y="414395"/>
                    <a:pt x="0" y="266958"/>
                  </a:cubicBezTo>
                  <a:cubicBezTo>
                    <a:pt x="0" y="119521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99754" cy="572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02615" y="3220497"/>
            <a:ext cx="13676621" cy="4147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4"/>
              </a:lnSpc>
            </a:pPr>
            <a:r>
              <a:rPr lang="en-US" sz="8778" spc="-14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Database Project:Biobank and Biospecimen Management System</a:t>
            </a:r>
          </a:p>
          <a:p>
            <a:pPr algn="l">
              <a:lnSpc>
                <a:spcPts val="772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617728" y="6650330"/>
            <a:ext cx="2587398" cy="649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6"/>
              </a:lnSpc>
            </a:pPr>
            <a:r>
              <a:rPr lang="en-US" sz="262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by Ahmed Rami</a:t>
            </a:r>
          </a:p>
          <a:p>
            <a:pPr algn="ctr">
              <a:lnSpc>
                <a:spcPts val="2306"/>
              </a:lnSpc>
            </a:pPr>
            <a:r>
              <a:rPr lang="en-US" sz="262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221000202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5334" y="0"/>
            <a:ext cx="9457763" cy="10287000"/>
            <a:chOff x="0" y="0"/>
            <a:chExt cx="249093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90933">
                  <a:moveTo>
                    <a:pt x="0" y="0"/>
                  </a:moveTo>
                  <a:lnTo>
                    <a:pt x="2490933" y="0"/>
                  </a:lnTo>
                  <a:lnTo>
                    <a:pt x="2490933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490933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36947" y="758631"/>
            <a:ext cx="5814107" cy="1199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5"/>
              </a:lnSpc>
            </a:pPr>
            <a:r>
              <a:rPr lang="en-US" sz="8015" spc="-12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4868" y="2469421"/>
            <a:ext cx="6145159" cy="179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67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1.C</a:t>
            </a:r>
            <a:r>
              <a:rPr lang="en-US" sz="167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onceptual design</a:t>
            </a:r>
          </a:p>
          <a:p>
            <a:pPr algn="ctr">
              <a:lnSpc>
                <a:spcPts val="2341"/>
              </a:lnSpc>
            </a:pPr>
            <a:r>
              <a:rPr lang="en-US" sz="167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 worked out the entity list and relationships on paper first: which entities are strong vs. weak, where many-to-many relationships needed resolving through associative tables. This became the ER diagram and, the table structure.</a:t>
            </a:r>
          </a:p>
          <a:p>
            <a:pPr algn="ctr">
              <a:lnSpc>
                <a:spcPts val="2341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-4011154">
            <a:off x="12755358" y="3032614"/>
            <a:ext cx="17403374" cy="15009081"/>
            <a:chOff x="0" y="0"/>
            <a:chExt cx="4583605" cy="39530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83605" cy="3953009"/>
            </a:xfrm>
            <a:custGeom>
              <a:avLst/>
              <a:gdLst/>
              <a:ahLst/>
              <a:cxnLst/>
              <a:rect r="r" b="b" t="t" l="l"/>
              <a:pathLst>
                <a:path h="3953009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3953009"/>
                  </a:lnTo>
                  <a:lnTo>
                    <a:pt x="0" y="3953009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4583605" cy="39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654160" y="2604532"/>
            <a:ext cx="6145159" cy="120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67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 2.physi</a:t>
            </a:r>
            <a:r>
              <a:rPr lang="en-US" sz="167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cal design</a:t>
            </a:r>
          </a:p>
          <a:p>
            <a:pPr algn="ctr">
              <a:lnSpc>
                <a:spcPts val="2341"/>
              </a:lnSpc>
            </a:pPr>
            <a:r>
              <a:rPr lang="en-US" sz="167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</a:t>
            </a:r>
            <a:r>
              <a:rPr lang="en-US" sz="167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he conceptual model was mapped to a relational schema using standard mapping rules, then written as MySQL DDL.</a:t>
            </a:r>
          </a:p>
          <a:p>
            <a:pPr algn="ctr">
              <a:lnSpc>
                <a:spcPts val="234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74577" y="6128808"/>
            <a:ext cx="6145159" cy="120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67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3.Imp</a:t>
            </a:r>
            <a:r>
              <a:rPr lang="en-US" sz="167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lementation and population</a:t>
            </a:r>
          </a:p>
          <a:p>
            <a:pPr algn="ctr">
              <a:lnSpc>
                <a:spcPts val="2341"/>
              </a:lnSpc>
            </a:pPr>
            <a:r>
              <a:rPr lang="en-US" sz="167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Tables, then test data, then views/triggers/procedures, then query examples.</a:t>
            </a:r>
          </a:p>
          <a:p>
            <a:pPr algn="ctr">
              <a:lnSpc>
                <a:spcPts val="234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5833533"/>
            <a:ext cx="6145159" cy="1500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67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4.Documentation</a:t>
            </a:r>
          </a:p>
          <a:p>
            <a:pPr algn="ctr">
              <a:lnSpc>
                <a:spcPts val="2341"/>
              </a:lnSpc>
            </a:pPr>
            <a:r>
              <a:rPr lang="en-US" sz="167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The report was written last, ev</a:t>
            </a:r>
            <a:r>
              <a:rPr lang="en-US" sz="167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ery code block in it is copied from the .sql files to report.doc</a:t>
            </a:r>
          </a:p>
          <a:p>
            <a:pPr algn="ctr">
              <a:lnSpc>
                <a:spcPts val="2341"/>
              </a:lnSpc>
            </a:pPr>
          </a:p>
          <a:p>
            <a:pPr algn="ctr">
              <a:lnSpc>
                <a:spcPts val="234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585" y="2685904"/>
            <a:ext cx="10937506" cy="5912666"/>
            <a:chOff x="0" y="0"/>
            <a:chExt cx="2656462" cy="14360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56462" cy="1436047"/>
            </a:xfrm>
            <a:custGeom>
              <a:avLst/>
              <a:gdLst/>
              <a:ahLst/>
              <a:cxnLst/>
              <a:rect r="r" b="b" t="t" l="l"/>
              <a:pathLst>
                <a:path h="1436047" w="2656462">
                  <a:moveTo>
                    <a:pt x="26898" y="0"/>
                  </a:moveTo>
                  <a:lnTo>
                    <a:pt x="2629565" y="0"/>
                  </a:lnTo>
                  <a:cubicBezTo>
                    <a:pt x="2636699" y="0"/>
                    <a:pt x="2643540" y="2834"/>
                    <a:pt x="2648584" y="7878"/>
                  </a:cubicBezTo>
                  <a:cubicBezTo>
                    <a:pt x="2653629" y="12922"/>
                    <a:pt x="2656462" y="19764"/>
                    <a:pt x="2656462" y="26898"/>
                  </a:cubicBezTo>
                  <a:lnTo>
                    <a:pt x="2656462" y="1409150"/>
                  </a:lnTo>
                  <a:cubicBezTo>
                    <a:pt x="2656462" y="1424005"/>
                    <a:pt x="2644420" y="1436047"/>
                    <a:pt x="2629565" y="1436047"/>
                  </a:cubicBezTo>
                  <a:lnTo>
                    <a:pt x="26898" y="1436047"/>
                  </a:lnTo>
                  <a:cubicBezTo>
                    <a:pt x="12042" y="1436047"/>
                    <a:pt x="0" y="1424005"/>
                    <a:pt x="0" y="1409150"/>
                  </a:cubicBezTo>
                  <a:lnTo>
                    <a:pt x="0" y="26898"/>
                  </a:lnTo>
                  <a:cubicBezTo>
                    <a:pt x="0" y="12042"/>
                    <a:pt x="12042" y="0"/>
                    <a:pt x="26898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2656462" cy="1426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812383" y="1348998"/>
            <a:ext cx="6177699" cy="7359879"/>
          </a:xfrm>
          <a:custGeom>
            <a:avLst/>
            <a:gdLst/>
            <a:ahLst/>
            <a:cxnLst/>
            <a:rect r="r" b="b" t="t" l="l"/>
            <a:pathLst>
              <a:path h="7359879" w="6177699">
                <a:moveTo>
                  <a:pt x="0" y="0"/>
                </a:moveTo>
                <a:lnTo>
                  <a:pt x="6177698" y="0"/>
                </a:lnTo>
                <a:lnTo>
                  <a:pt x="6177698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02566" y="2881942"/>
            <a:ext cx="6393254" cy="448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861" spc="-12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Database De</a:t>
            </a:r>
            <a:r>
              <a:rPr lang="en-US" sz="2861" spc="-12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2566" y="3366448"/>
            <a:ext cx="10331352" cy="5232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13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13 tables, split into three categories:</a:t>
            </a:r>
          </a:p>
          <a:p>
            <a:pPr algn="l" marL="461146" indent="-230573" lvl="1">
              <a:lnSpc>
                <a:spcPts val="2990"/>
              </a:lnSpc>
              <a:buFont typeface="Arial"/>
              <a:buChar char="•"/>
            </a:pPr>
            <a:r>
              <a:rPr lang="en-US" sz="213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9 strong/lookup entities: DONOR, COLLECTION_EVENT, SAMPLE, SAMPLE_TYPE, STORAGE_LOCATION, RESEARCHER, PROJECT, TEST_REQUEST, STORAGE_TEMP_LOG</a:t>
            </a:r>
          </a:p>
          <a:p>
            <a:pPr algn="l" marL="461146" indent="-230573" lvl="1">
              <a:lnSpc>
                <a:spcPts val="2990"/>
              </a:lnSpc>
              <a:buFont typeface="Arial"/>
              <a:buChar char="•"/>
            </a:pPr>
            <a:r>
              <a:rPr lang="en-US" sz="213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2 weak entities: CONSENT (owned by DONOR) and ALIQUOT (owned by SAMPLE)  each has a composite primary key (owner's key + a partial key like Consent_Seq), because a consent record or an aliquot has no independent identity outside its parent.</a:t>
            </a:r>
          </a:p>
          <a:p>
            <a:pPr algn="l" marL="461146" indent="-230573" lvl="1">
              <a:lnSpc>
                <a:spcPts val="2990"/>
              </a:lnSpc>
              <a:spcBef>
                <a:spcPct val="0"/>
              </a:spcBef>
              <a:buFont typeface="Arial"/>
              <a:buChar char="•"/>
            </a:pPr>
            <a:r>
              <a:rPr lang="en-US" sz="213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2 associative tables resolving many-to-many relationships: PROJECT_RESEARCHER (researchers ↔ projects, since a project has a team and a researcher works on multiple projects) and SAMPLE_USAGE (aliquots ↔ test requests, since one aliquot can be partially used by several requests and one request can consume several aliquots).</a:t>
            </a:r>
          </a:p>
          <a:p>
            <a:pPr algn="l">
              <a:lnSpc>
                <a:spcPts val="299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5589" y="2685311"/>
            <a:ext cx="7832944" cy="6279298"/>
            <a:chOff x="0" y="0"/>
            <a:chExt cx="2062998" cy="16538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62998" cy="1653807"/>
            </a:xfrm>
            <a:custGeom>
              <a:avLst/>
              <a:gdLst/>
              <a:ahLst/>
              <a:cxnLst/>
              <a:rect r="r" b="b" t="t" l="l"/>
              <a:pathLst>
                <a:path h="1653807" w="2062998">
                  <a:moveTo>
                    <a:pt x="37558" y="0"/>
                  </a:moveTo>
                  <a:lnTo>
                    <a:pt x="2025439" y="0"/>
                  </a:lnTo>
                  <a:cubicBezTo>
                    <a:pt x="2035400" y="0"/>
                    <a:pt x="2044953" y="3957"/>
                    <a:pt x="2051997" y="11001"/>
                  </a:cubicBezTo>
                  <a:cubicBezTo>
                    <a:pt x="2059041" y="18044"/>
                    <a:pt x="2062998" y="27597"/>
                    <a:pt x="2062998" y="37558"/>
                  </a:cubicBezTo>
                  <a:lnTo>
                    <a:pt x="2062998" y="1616249"/>
                  </a:lnTo>
                  <a:cubicBezTo>
                    <a:pt x="2062998" y="1626210"/>
                    <a:pt x="2059041" y="1635763"/>
                    <a:pt x="2051997" y="1642806"/>
                  </a:cubicBezTo>
                  <a:cubicBezTo>
                    <a:pt x="2044953" y="1649850"/>
                    <a:pt x="2035400" y="1653807"/>
                    <a:pt x="2025439" y="1653807"/>
                  </a:cubicBezTo>
                  <a:lnTo>
                    <a:pt x="37558" y="1653807"/>
                  </a:lnTo>
                  <a:cubicBezTo>
                    <a:pt x="27597" y="1653807"/>
                    <a:pt x="18044" y="1649850"/>
                    <a:pt x="11001" y="1642806"/>
                  </a:cubicBezTo>
                  <a:cubicBezTo>
                    <a:pt x="3957" y="1635763"/>
                    <a:pt x="0" y="1626210"/>
                    <a:pt x="0" y="1616249"/>
                  </a:cubicBezTo>
                  <a:lnTo>
                    <a:pt x="0" y="37558"/>
                  </a:lnTo>
                  <a:cubicBezTo>
                    <a:pt x="0" y="27597"/>
                    <a:pt x="3957" y="18044"/>
                    <a:pt x="11001" y="11001"/>
                  </a:cubicBezTo>
                  <a:cubicBezTo>
                    <a:pt x="18044" y="3957"/>
                    <a:pt x="27597" y="0"/>
                    <a:pt x="37558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2062998" cy="1644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310846" y="1763937"/>
            <a:ext cx="9308038" cy="6032988"/>
          </a:xfrm>
          <a:custGeom>
            <a:avLst/>
            <a:gdLst/>
            <a:ahLst/>
            <a:cxnLst/>
            <a:rect r="r" b="b" t="t" l="l"/>
            <a:pathLst>
              <a:path h="6032988" w="9308038">
                <a:moveTo>
                  <a:pt x="0" y="0"/>
                </a:moveTo>
                <a:lnTo>
                  <a:pt x="9308039" y="0"/>
                </a:lnTo>
                <a:lnTo>
                  <a:pt x="9308039" y="6032988"/>
                </a:lnTo>
                <a:lnTo>
                  <a:pt x="0" y="6032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44568" y="3211299"/>
            <a:ext cx="3303558" cy="40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654" spc="-111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Key design decisions: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5589" y="3643383"/>
            <a:ext cx="7832944" cy="5321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424" indent="-216212" lvl="1">
              <a:lnSpc>
                <a:spcPts val="2804"/>
              </a:lnSpc>
              <a:buFont typeface="Arial"/>
              <a:buChar char="•"/>
            </a:pPr>
            <a:r>
              <a:rPr lang="en-US" sz="20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SAMPLE_</a:t>
            </a:r>
            <a:r>
              <a:rPr lang="en-US" sz="20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TYPE and STORAGE_LOCATION were factored out as separate lookup entities rather than embedded, specifically to satisfy 3NF </a:t>
            </a:r>
            <a:r>
              <a:rPr lang="en-US" sz="20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0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attributes like Default_Storage_Temp depend on the type, not the individual sample, so keeping them inline would have created transitive dependencies and duplicated data.</a:t>
            </a:r>
          </a:p>
          <a:p>
            <a:pPr algn="l" marL="432424" indent="-216212" lvl="1">
              <a:lnSpc>
                <a:spcPts val="2804"/>
              </a:lnSpc>
              <a:spcBef>
                <a:spcPct val="0"/>
              </a:spcBef>
              <a:buFont typeface="Arial"/>
              <a:buChar char="•"/>
            </a:pPr>
            <a:r>
              <a:rPr lang="en-US" sz="20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Every foreign key got an explicit ON DELETE/ON UPDATE action: CASCADE for owned/dependent data (deleting a donor removes their consents), RESTRICT for shared reference data (you can't delete a sample type still in use).</a:t>
            </a:r>
          </a:p>
          <a:p>
            <a:pPr algn="l" marL="432424" indent="-216212" lvl="1">
              <a:lnSpc>
                <a:spcPts val="2804"/>
              </a:lnSpc>
              <a:spcBef>
                <a:spcPct val="0"/>
              </a:spcBef>
              <a:buFont typeface="Arial"/>
              <a:buChar char="•"/>
            </a:pPr>
            <a:r>
              <a:rPr lang="en-US" sz="20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Business/system rules that couldn't be expressed as simple constraints were pushed into triggers rather than left to application code </a:t>
            </a:r>
            <a:r>
              <a:rPr lang="en-US" sz="20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0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e.g., "an aliquot's total volume can never exceed its parent sample's volume" is enforced by a BEFORE INSERT trigger, not just documented as a rule.</a:t>
            </a:r>
          </a:p>
          <a:p>
            <a:pPr algn="l">
              <a:lnSpc>
                <a:spcPts val="280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89577" y="2685311"/>
            <a:ext cx="13866800" cy="4916378"/>
            <a:chOff x="0" y="0"/>
            <a:chExt cx="3652161" cy="12948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52161" cy="1294849"/>
            </a:xfrm>
            <a:custGeom>
              <a:avLst/>
              <a:gdLst/>
              <a:ahLst/>
              <a:cxnLst/>
              <a:rect r="r" b="b" t="t" l="l"/>
              <a:pathLst>
                <a:path h="1294849" w="3652161">
                  <a:moveTo>
                    <a:pt x="21216" y="0"/>
                  </a:moveTo>
                  <a:lnTo>
                    <a:pt x="3630945" y="0"/>
                  </a:lnTo>
                  <a:cubicBezTo>
                    <a:pt x="3642663" y="0"/>
                    <a:pt x="3652161" y="9499"/>
                    <a:pt x="3652161" y="21216"/>
                  </a:cubicBezTo>
                  <a:lnTo>
                    <a:pt x="3652161" y="1273633"/>
                  </a:lnTo>
                  <a:cubicBezTo>
                    <a:pt x="3652161" y="1285350"/>
                    <a:pt x="3642663" y="1294849"/>
                    <a:pt x="3630945" y="1294849"/>
                  </a:cubicBezTo>
                  <a:lnTo>
                    <a:pt x="21216" y="1294849"/>
                  </a:lnTo>
                  <a:cubicBezTo>
                    <a:pt x="9499" y="1294849"/>
                    <a:pt x="0" y="1285350"/>
                    <a:pt x="0" y="1273633"/>
                  </a:cubicBezTo>
                  <a:lnTo>
                    <a:pt x="0" y="21216"/>
                  </a:lnTo>
                  <a:cubicBezTo>
                    <a:pt x="0" y="9499"/>
                    <a:pt x="9499" y="0"/>
                    <a:pt x="21216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3652161" cy="1275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7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01792" y="3201774"/>
            <a:ext cx="7931667" cy="40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2554" spc="-107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Impl</a:t>
            </a:r>
            <a:r>
              <a:rPr lang="en-US" sz="2554" spc="-107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9577" y="3652908"/>
            <a:ext cx="13866800" cy="3694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834" indent="-205417" lvl="1">
              <a:lnSpc>
                <a:spcPts val="2664"/>
              </a:lnSpc>
              <a:buFont typeface="Arial"/>
              <a:buChar char="•"/>
            </a:pPr>
            <a:r>
              <a:rPr lang="en-US" sz="19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create_tables.sql </a:t>
            </a:r>
            <a:r>
              <a:rPr lang="en-US" sz="19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9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DDL: all 13 tables in dependency order, with PRIMARY KEY, FOREIGN KEY, CHECK, and UNIQUE constraints, plus supporting indexes on frequently-joined foreign key columns.</a:t>
            </a:r>
          </a:p>
          <a:p>
            <a:pPr algn="l" marL="410834" indent="-205417" lvl="1">
              <a:lnSpc>
                <a:spcPts val="2664"/>
              </a:lnSpc>
              <a:spcBef>
                <a:spcPct val="0"/>
              </a:spcBef>
              <a:buFont typeface="Arial"/>
              <a:buChar char="•"/>
            </a:pPr>
            <a:r>
              <a:rPr lang="en-US" sz="19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load_data.sql </a:t>
            </a:r>
            <a:r>
              <a:rPr lang="en-US" sz="19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9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DML: realistic test data, 10+ rows per main table.</a:t>
            </a:r>
          </a:p>
          <a:p>
            <a:pPr algn="l" marL="410834" indent="-205417" lvl="1">
              <a:lnSpc>
                <a:spcPts val="2664"/>
              </a:lnSpc>
              <a:spcBef>
                <a:spcPct val="0"/>
              </a:spcBef>
              <a:buFont typeface="Arial"/>
              <a:buChar char="•"/>
            </a:pPr>
            <a:r>
              <a:rPr lang="en-US" sz="19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views.sql </a:t>
            </a:r>
            <a:r>
              <a:rPr lang="en-US" sz="19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9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3 views joining across the schema for common reporting needs (available inventory, project usage summary, donor sample counts).</a:t>
            </a:r>
          </a:p>
          <a:p>
            <a:pPr algn="l" marL="410834" indent="-205417" lvl="1">
              <a:lnSpc>
                <a:spcPts val="2664"/>
              </a:lnSpc>
              <a:spcBef>
                <a:spcPct val="0"/>
              </a:spcBef>
              <a:buFont typeface="Arial"/>
              <a:buChar char="•"/>
            </a:pPr>
            <a:r>
              <a:rPr lang="en-US" sz="19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triggers_procedures.sql </a:t>
            </a:r>
            <a:r>
              <a:rPr lang="en-US" sz="19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9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2 triggers (volume-check on insert, auto-depletion on usage), 1 stored procedure (sp_register_test_request, wrapping two inserts in one transaction with an OUT parameter), 1 function (a reusable consent-status check).</a:t>
            </a:r>
          </a:p>
          <a:p>
            <a:pPr algn="l" marL="410834" indent="-205417" lvl="1">
              <a:lnSpc>
                <a:spcPts val="2664"/>
              </a:lnSpc>
              <a:spcBef>
                <a:spcPct val="0"/>
              </a:spcBef>
              <a:buFont typeface="Arial"/>
              <a:buChar char="•"/>
            </a:pPr>
            <a:r>
              <a:rPr lang="en-US" sz="19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queries.sql </a:t>
            </a:r>
            <a:r>
              <a:rPr lang="en-US" sz="19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90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17 queries covering retrieval, joins, aggregation, correlated and non-correlated subqueries, and INSERT/UPDATE/DELETE.</a:t>
            </a:r>
          </a:p>
          <a:p>
            <a:pPr algn="l">
              <a:lnSpc>
                <a:spcPts val="266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374770">
            <a:off x="-1666180" y="6478089"/>
            <a:ext cx="20251759" cy="18180272"/>
            <a:chOff x="0" y="0"/>
            <a:chExt cx="5333797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3797" cy="4788220"/>
            </a:xfrm>
            <a:custGeom>
              <a:avLst/>
              <a:gdLst/>
              <a:ahLst/>
              <a:cxnLst/>
              <a:rect r="r" b="b" t="t" l="l"/>
              <a:pathLst>
                <a:path h="4788220" w="5333797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80871" y="4001801"/>
            <a:ext cx="14126257" cy="222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1"/>
              </a:lnSpc>
            </a:pPr>
            <a:r>
              <a:rPr lang="en-US" b="true" sz="14279" spc="-59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DAHSX8DJKNg</dc:identifier>
  <dcterms:modified xsi:type="dcterms:W3CDTF">2011-08-01T06:04:30Z</dcterms:modified>
  <cp:revision>1</cp:revision>
  <dc:title>database project</dc:title>
</cp:coreProperties>
</file>